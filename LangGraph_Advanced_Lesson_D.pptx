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234440" cy="38404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2344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LESSON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>
                <a:solidFill>
                  <a:srgbClr val="162640"/>
                </a:solidFill>
                <a:latin typeface="Aptos"/>
              </a:rPr>
              <a:t>Advanced LangGraph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59152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818A"/>
                </a:solidFill>
                <a:latin typeface="Aptos"/>
              </a:rPr>
              <a:t>Human-in-the-Loop, Parallel Branches &amp; Multi-Agent Graphs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49039"/>
            <a:ext cx="165100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Interrupt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6800" y="3895343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9680" y="3749039"/>
            <a:ext cx="1651000" cy="566928"/>
          </a:xfrm>
          <a:prstGeom prst="round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968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Reducers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680" y="3895343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560" y="3749039"/>
            <a:ext cx="1651000" cy="566928"/>
          </a:xfrm>
          <a:prstGeom prst="round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356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4560" y="3895343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440" y="3749039"/>
            <a:ext cx="165100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Sub-Graphs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8440" y="3895343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320" y="3749039"/>
            <a:ext cx="1651000" cy="566928"/>
          </a:xfrm>
          <a:prstGeom prst="roundRect">
            <a:avLst/>
          </a:prstGeom>
          <a:solidFill>
            <a:srgbClr val="1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132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2320" y="3895343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55200" y="3749039"/>
            <a:ext cx="1651000" cy="566928"/>
          </a:xfrm>
          <a:prstGeom prst="roundRect">
            <a:avLst/>
          </a:prstGeom>
          <a:solidFill>
            <a:srgbClr val="B05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5200" y="3749039"/>
            <a:ext cx="1651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MCP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66928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77A"/>
                </a:solidFill>
                <a:latin typeface="Aptos"/>
              </a:rPr>
              <a:t>Presented by: Sharad Rajore  |  Zensar 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The Problem: One Conditional Edge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Lesson C's graph handles the demo case; production workflows need more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47914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What Lesson C gave 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4663440" cy="2286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66344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def route_after_assistant(state):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last = state["messages"][-1]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if last.tool_calls: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    return "tools"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return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1208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What real workflows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6634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Approve risky actions before they run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Track more than just the message list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Run independent steps in parallel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Compose multiple specialist agents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Survive a process restart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Mental Model: Same Primitives, More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Every pattern today is still State + Node + Edge, used more deliberately.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56794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5679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3740" y="2203704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6620" y="2057400"/>
            <a:ext cx="2567940" cy="566928"/>
          </a:xfrm>
          <a:prstGeom prst="round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6620" y="2057400"/>
            <a:ext cx="25679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human_review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4560" y="2203704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2057400"/>
            <a:ext cx="2567940" cy="566928"/>
          </a:xfrm>
          <a:prstGeom prst="round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2057400"/>
            <a:ext cx="25679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5380" y="2203704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260" y="2057400"/>
            <a:ext cx="256794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8260" y="2057400"/>
            <a:ext cx="25679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355848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Interrupt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29480"/>
            <a:ext cx="1783080" cy="60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pauses a node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waits for a decision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35196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9788" y="3355848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Reducer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076" y="3729480"/>
            <a:ext cx="1783080" cy="60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merges updates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e.g. operator.add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8872" y="3246120"/>
            <a:ext cx="2148840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3464" y="3355848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Parallel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1752" y="3729480"/>
            <a:ext cx="1783080" cy="60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same super-step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joins downstream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42548" y="3246120"/>
            <a:ext cx="3863652" cy="118872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7140" y="3355848"/>
            <a:ext cx="35344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Sub-Graph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5428" y="3729480"/>
            <a:ext cx="3497892" cy="60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compiled graph as a node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- composable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Part 1 - Human-in-the-Loop with interrupt()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Freeze the graph before a sensitive tool runs; resume once a human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440680" cy="37033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44068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decision = interrupt({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"tool": tool_call["name"],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"args": tool_call["args"],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})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if decision == "approve":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return Command(goto="tools")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return Command(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goto="assistant",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update={"messages": [denial]},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480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Sensitive tool calls route to human_review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interrupt() pauses and returns a question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Command(resume=...) continues the same thread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Deny -&gt; assistant receives a ToolMessage instead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88152"/>
            <a:ext cx="198120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88152"/>
            <a:ext cx="1981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440" y="5934456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1320" y="5788152"/>
            <a:ext cx="1981200" cy="566928"/>
          </a:xfrm>
          <a:prstGeom prst="round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320" y="5788152"/>
            <a:ext cx="1981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human_review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2520" y="5934456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5400" y="5788152"/>
            <a:ext cx="1981200" cy="566928"/>
          </a:xfrm>
          <a:prstGeom prst="round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5400" y="5788152"/>
            <a:ext cx="1981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approve?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5934456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5788152"/>
            <a:ext cx="198120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5788152"/>
            <a:ext cx="1981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0680" y="5934456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677A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3560" y="5788152"/>
            <a:ext cx="198120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3560" y="5788152"/>
            <a:ext cx="1981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Part 2 - Custom State Beyond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Each extra state field gets its own reducer - the rule for merging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29718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47914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Why reducers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23160"/>
            <a:ext cx="479145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A node returns only its update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LangGraph merges it into state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The reducer decides how: replace, append, sum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add_messages appends; operator.add sums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12080" cy="29718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21208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class CountingState(TypedDict):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messages: Annotated[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    list[AnyMessage], add_messages]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tool_call_count: Annotated[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    int, operator.add]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def assistant(state):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r = llm_with_tools.invoke(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    state["messages"])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made = len(r.tool_calls or [])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return {"messages": [r],</a:t>
            </a:r>
          </a:p>
          <a:p>
            <a:pPr algn="ctr"/>
            <a:r>
              <a:rPr sz="1300" b="0">
                <a:solidFill>
                  <a:srgbClr val="E2E8F0"/>
                </a:solidFill>
                <a:latin typeface="Consolas"/>
              </a:rPr>
              <a:t>            "tool_call_count": made}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51425"/>
            <a:ext cx="1079016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51425"/>
            <a:ext cx="1079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Key idea: reducers let independent branches update state without overwriting each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Part 3 - Fan-Out / Fan-In (Parallel Nodes)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Independent work runs in the same super-step, then joins downstream.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20000"/>
            <a:ext cx="1737360" cy="566928"/>
          </a:xfrm>
          <a:prstGeom prst="roundRect">
            <a:avLst/>
          </a:prstGeom>
          <a:solidFill>
            <a:srgbClr val="1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2000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70000"/>
            <a:ext cx="233172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970000"/>
            <a:ext cx="2331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check_weather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670000"/>
            <a:ext cx="233172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670000"/>
            <a:ext cx="2331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check_stock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03856"/>
            <a:ext cx="1737360" cy="566928"/>
          </a:xfrm>
          <a:prstGeom prst="round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103856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combine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0680" y="2820000"/>
            <a:ext cx="173736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70680" y="282000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560320" y="2253464"/>
            <a:ext cx="160020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60320" y="3103464"/>
            <a:ext cx="160020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253464"/>
            <a:ext cx="365760" cy="1133856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492240" y="3387320"/>
            <a:ext cx="365760" cy="566144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95360" y="3103464"/>
            <a:ext cx="1075320" cy="283856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4550000"/>
            <a:ext cx="10790160" cy="1550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50000"/>
            <a:ext cx="10790160" cy="1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builder.add_edge(START, "check_weather")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builder.add_edge(START, "check_stock")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builder.add_edge("check_weather", "combine")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builder.add_edge("check_stock", "combine")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# findings: Annotated[list[str], operator.add] safely merges both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Part 4 - Multi-Agent Supervisor (Sub-Graphs)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A compiled graph is just a function - so it can be a node in a bigger 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20000"/>
            <a:ext cx="1737360" cy="566928"/>
          </a:xfrm>
          <a:prstGeom prst="roundRect">
            <a:avLst/>
          </a:prstGeom>
          <a:solidFill>
            <a:srgbClr val="1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2000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supervisor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70000"/>
            <a:ext cx="2331720" cy="56692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970000"/>
            <a:ext cx="2331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finance_agent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670000"/>
            <a:ext cx="2331720" cy="566928"/>
          </a:xfrm>
          <a:prstGeom prst="round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670000"/>
            <a:ext cx="2331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support_agent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0680" y="2820000"/>
            <a:ext cx="1737360" cy="566928"/>
          </a:xfrm>
          <a:prstGeom prst="round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0680" y="2820000"/>
            <a:ext cx="1737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2253464"/>
            <a:ext cx="160020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3103464"/>
            <a:ext cx="160020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2253464"/>
            <a:ext cx="317844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92240" y="3103464"/>
            <a:ext cx="3178440" cy="850000"/>
          </a:xfrm>
          <a:prstGeom prst="line">
            <a:avLst/>
          </a:prstGeom>
          <a:ln w="1905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550000"/>
            <a:ext cx="10790160" cy="1550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50000"/>
            <a:ext cx="10790160" cy="1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supervisor_builder.add_node("finance_agent", finance_graph)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supervisor_builder.add_node("support_agent", support_graph)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supervisor_builder.add_conditional_edges(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START, supervisor,</a:t>
            </a:r>
          </a:p>
          <a:p>
            <a:pPr algn="ctr"/>
            <a:r>
              <a:rPr sz="1400" b="0">
                <a:solidFill>
                  <a:srgbClr val="E2E8F0"/>
                </a:solidFill>
                <a:latin typeface="Consolas"/>
              </a:rPr>
              <a:t>    {"finance_agent": "finance_agent", "support_agent": "support_agent"})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685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Part 5 - Durable Memory with SqliteSaver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MemorySaver lives in RAM; SqliteSaver survives a restart.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35204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1206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from langgraph.checkpoint.sqlite import SqliteSaver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with SqliteSaver.from_conn_string(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    db_path) as memory: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graph = builder.compile(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    checkpointer=memory)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graph.invoke(</a:t>
            </a:r>
          </a:p>
          <a:p>
            <a:pPr algn="ctr"/>
            <a:r>
              <a:rPr sz="1500" b="0">
                <a:solidFill>
                  <a:srgbClr val="E2E8F0"/>
                </a:solidFill>
                <a:latin typeface="Consolas"/>
              </a:rPr>
              <a:t>        input, config=config)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212080" cy="35204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98424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What changes from MemorySaver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6634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Checkpoints written to a file, not RAM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A brand-new SqliteSaver instance still finds the thread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Same checkpointer= API, different backing store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- Production scale -&gt; PostgresSaver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32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Debugging Reminder: Diagrams Can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draw_mermaid() only shows static edges - Command(goto=...) is decided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90160" cy="566928"/>
          </a:xfrm>
          <a:prstGeom prst="roundRect">
            <a:avLst/>
          </a:prstGeom>
          <a:solidFill>
            <a:srgbClr val="E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9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human_review has no static outgoing edge, yet the diagram still guesses one - trust the code, not the picture.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680000"/>
          <a:ext cx="1079016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3795080"/>
                <a:gridCol w="3795080"/>
              </a:tblGrid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Pattern</a:t>
                      </a:r>
                    </a:p>
                  </a:txBody>
                  <a:tcPr marT="45720" marB="45720"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Lesson C</a:t>
                      </a:r>
                    </a:p>
                  </a:txBody>
                  <a:tcPr marT="45720" marB="45720"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Lesson D</a:t>
                      </a:r>
                    </a:p>
                  </a:txBody>
                  <a:tcPr marT="45720" marB="45720">
                    <a:solidFill>
                      <a:srgbClr val="162640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2640"/>
                          </a:solidFill>
                          <a:latin typeface="Aptos"/>
                        </a:rPr>
                        <a:t>Routing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one conditional edge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interrupt() + Command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2640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messages only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custom fields + reducers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2640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sequential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fan-out / fan-in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2640"/>
                          </a:solidFill>
                          <a:latin typeface="Aptos"/>
                        </a:rPr>
                        <a:t>Agents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single assistant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supervisor + sub-graphs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53333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62640"/>
                          </a:solidFill>
                          <a:latin typeface="Aptos"/>
                        </a:rPr>
                        <a:t>Memory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MemorySaver (RAM)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tos"/>
                        </a:rPr>
                        <a:t>SqliteSaver (disk)</a:t>
                      </a:r>
                    </a:p>
                  </a:txBody>
                  <a:tcPr marT="45720" marB="45720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16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2640"/>
                </a:solidFill>
                <a:latin typeface="Aptos"/>
              </a:rPr>
              <a:t>Hands-On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Aptos"/>
              </a:rPr>
              <a:t>Run the notebook in this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77A"/>
                </a:solidFill>
                <a:latin typeface="Aptos"/>
              </a:rPr>
              <a:t>Lesson D: Advanced LangGraph Patterns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9280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1. 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6440"/>
            <a:ext cx="3017520" cy="3028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Add a sensitive tool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Route it to human_review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interrupt() + Command(resume=...)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2.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6440"/>
            <a:ext cx="3017520" cy="3028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Add a custom state field with a reducer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Fan out, then combine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Nest sub-graphs behind a 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383280" cy="361188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89280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  <a:latin typeface="Aptos"/>
              </a:rPr>
              <a:t>3. Persist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66440"/>
            <a:ext cx="3017520" cy="3028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Swap MemorySaver for SqliteSaver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Reopen the same thread_id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- Confirm state survived the 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742432"/>
            <a:ext cx="10104120" cy="475488"/>
          </a:xfrm>
          <a:prstGeom prst="roundRect">
            <a:avLst/>
          </a:prstGeom>
          <a:solidFill>
            <a:srgbClr val="008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742432"/>
            <a:ext cx="10104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Takeaway: the same three primitives - State, Node, Edge - scale from a demo to a production multi-agent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