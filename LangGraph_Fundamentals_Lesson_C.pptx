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234440" cy="38404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LESSON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300" b="1">
                <a:solidFill>
                  <a:srgbClr val="162640"/>
                </a:solidFill>
                <a:latin typeface="Aptos"/>
              </a:rPr>
              <a:t>LangGraph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9152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818A"/>
                </a:solidFill>
                <a:latin typeface="Aptos"/>
              </a:rPr>
              <a:t>Explicit Agent Workflows - From create_agent() to Graphs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1584960" cy="56692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6208" y="38587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9088" y="3749039"/>
            <a:ext cx="1584960" cy="566928"/>
          </a:xfrm>
          <a:prstGeom prst="roundRect">
            <a:avLst/>
          </a:prstGeom>
          <a:solidFill>
            <a:srgbClr val="68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2336" y="38587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5216" y="3749039"/>
            <a:ext cx="1584960" cy="566928"/>
          </a:xfrm>
          <a:prstGeom prst="roundRect">
            <a:avLst/>
          </a:prstGeom>
          <a:solidFill>
            <a:srgbClr val="EE7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8464" y="38587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749039"/>
            <a:ext cx="1584960" cy="566928"/>
          </a:xfrm>
          <a:prstGeom prst="roundRect">
            <a:avLst/>
          </a:prstGeom>
          <a:solidFill>
            <a:srgbClr val="32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4592" y="38587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7472" y="3749039"/>
            <a:ext cx="1584960" cy="566928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0720" y="38587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53600" y="3749039"/>
            <a:ext cx="1584960" cy="566928"/>
          </a:xfrm>
          <a:prstGeom prst="roundRect">
            <a:avLst/>
          </a:prstGeom>
          <a:solidFill>
            <a:srgbClr val="B05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MCP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692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B677A"/>
                </a:solidFill>
                <a:latin typeface="Aptos"/>
              </a:rPr>
              <a:t>Presented by: Sharad Rajore  |  Zensar Technologies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E7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"/>
              </a:rPr>
              <a:t>The Problem: The Agent Loop Is Hidden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77A"/>
                </a:solidFill>
                <a:latin typeface="Aptos"/>
              </a:rPr>
              <a:t>create_agent() is great for demos, but real workflows need visible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120640" cy="35204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8424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What we used so far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4663440" cy="228600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>
            <a:normAutofit/>
          </a:bodyPr>
          <a:lstStyle/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agent = create_agent(
    model=llm,
    tools=[get_weather],
    checkpointer=MemorySaver(),
)
agent.invoke({"messages": [...]}, config=cfg)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212080" cy="35204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98424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What we now want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663440" cy="2423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- See every step in the workflow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- Route differently based on state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- Pause, debug, stream, inspect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- Plug in MCP tools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"/>
              </a:rPr>
              <a:t>Mental Model: A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77A"/>
                </a:solidFill>
                <a:latin typeface="Aptos"/>
              </a:rPr>
              <a:t>LangGraph moves shared state through small Python functions.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942185" cy="566928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3433" y="216712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66313" y="2057400"/>
            <a:ext cx="1942185" cy="56692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6787" y="216712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9667" y="2057400"/>
            <a:ext cx="1942185" cy="566928"/>
          </a:xfrm>
          <a:prstGeom prst="roundRect">
            <a:avLst/>
          </a:prstGeom>
          <a:solidFill>
            <a:srgbClr val="EE7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tools?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0140" y="216712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3020" y="2057400"/>
            <a:ext cx="1942185" cy="56692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3494" y="216712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96374" y="2057400"/>
            <a:ext cx="1942185" cy="566928"/>
          </a:xfrm>
          <a:prstGeom prst="roundRect">
            <a:avLst/>
          </a:prstGeom>
          <a:solidFill>
            <a:srgbClr val="32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2148840" cy="11887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1819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7830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messages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user data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workflow flags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3246120"/>
            <a:ext cx="2148840" cy="11887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9272" y="3355848"/>
            <a:ext cx="1819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Nodes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657600"/>
            <a:ext cx="17830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call LLM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run tools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summarize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3246120"/>
            <a:ext cx="2148840" cy="11887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42431" y="3355848"/>
            <a:ext cx="1819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Edges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657600"/>
            <a:ext cx="17830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normal next step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conditional route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246120"/>
            <a:ext cx="3429000" cy="11887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65592" y="335584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Checkpointer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657600"/>
            <a:ext cx="30632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saves graph state by thread_id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t>- same idea as Lesson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8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"/>
              </a:rPr>
              <a:t>Smallest Useful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77A"/>
                </a:solidFill>
                <a:latin typeface="Aptos"/>
              </a:rPr>
              <a:t>One state schema, one assistant node, two edges.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440680" cy="297180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>
            <a:norm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class AgentState(TypedDict):
    messages: Annotated[list[AnyMessage], add_messages]
def call_llm(state):
    response = llm.invoke(state["messages"])
    return {"messages": [response]}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874519"/>
            <a:ext cx="4937760" cy="297180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>
            <a:norm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builder = StateGraph(AgentState)
builder.add_node("assistant", call_llm)
builder.add_edge(START, "assistant")
builder.add_edge("assistant", END)
graph = builder.compile()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3371088" cy="566928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2336" y="536752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5216" y="5257800"/>
            <a:ext cx="3371088" cy="566928"/>
          </a:xfrm>
          <a:prstGeom prst="roundRect">
            <a:avLst/>
          </a:prstGeom>
          <a:solidFill>
            <a:srgbClr val="68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592" y="536752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7472" y="5257800"/>
            <a:ext cx="3371088" cy="566928"/>
          </a:xfrm>
          <a:prstGeom prst="roundRect">
            <a:avLst/>
          </a:prstGeom>
          <a:solidFill>
            <a:srgbClr val="32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2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"/>
              </a:rPr>
              <a:t>State + Reducers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77A"/>
                </a:solidFill>
                <a:latin typeface="Aptos"/>
              </a:rPr>
              <a:t>State is not just data; it defines how updates merge.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120640" cy="35204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38528"/>
            <a:ext cx="47914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Without the reducer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452628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- A node returns only the update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- LangGraph merges that update into state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- Wrong merge behavior can overwrite useful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074920" cy="35204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938528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For chat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359152"/>
            <a:ext cx="4526280" cy="192024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>
            <a:normAutofit/>
          </a:bodyPr>
          <a:lstStyle/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messages: Annotated[
    list[AnyMessage],
    add_messages
]
# Append new messages
# instead of replacing the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5623560"/>
            <a:ext cx="8092440" cy="47548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Key idea: each node stays small; LangGraph handles the merge.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E7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"/>
              </a:rPr>
              <a:t>Tool Routing: assistant &lt;-&gt;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77A"/>
                </a:solidFill>
                <a:latin typeface="Aptos"/>
              </a:rPr>
              <a:t>The graph runs tools only when the model requests tool calls.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440680" cy="370332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>
            <a:normAutofit/>
          </a:bodyPr>
          <a:lstStyle/>
          <a:p>
            <a:pPr algn="ctr"/>
            <a:r>
              <a:rPr sz="1250" b="0">
                <a:solidFill>
                  <a:srgbClr val="E2E8F0"/>
                </a:solidFill>
                <a:latin typeface="Consolas"/>
              </a:rPr>
              <a:t>llm_with_tools = llm.bind_tools(TOOLS)
def assistant(state):
    return {"messages": [
        llm_with_tools.invoke(state["messages"])
    ]}
def route_after_assistant(state):
    last = state["messages"][-1]
    return "tools" if last.tool_calls else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788152"/>
            <a:ext cx="1942185" cy="566928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3433" y="22585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0593" y="5788152"/>
            <a:ext cx="1942185" cy="56692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6787" y="22585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3947" y="5788152"/>
            <a:ext cx="1942185" cy="566928"/>
          </a:xfrm>
          <a:prstGeom prst="roundRect">
            <a:avLst/>
          </a:prstGeom>
          <a:solidFill>
            <a:srgbClr val="EE7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0140" y="22585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7300" y="5788152"/>
            <a:ext cx="1942185" cy="56692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3494" y="22585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50654" y="5788152"/>
            <a:ext cx="1942185" cy="566928"/>
          </a:xfrm>
          <a:prstGeom prst="roundRect">
            <a:avLst/>
          </a:prstGeom>
          <a:solidFill>
            <a:srgbClr val="32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063240"/>
            <a:ext cx="448056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- If tool_calls exist: go to ToolNode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- After tools run: return to assistant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- If no tool_calls: exit to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"/>
              </a:rPr>
              <a:t>Memory Is a Compile-Time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77A"/>
                </a:solidFill>
                <a:latin typeface="Aptos"/>
              </a:rPr>
              <a:t>Same graph, now saved by thread_id.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120640" cy="3749039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>
            <a:normAutofit/>
          </a:bodyPr>
          <a:lstStyle/>
          <a:p>
            <a:pPr algn="ctr"/>
            <a:r>
              <a:rPr sz="1350" b="0">
                <a:solidFill>
                  <a:srgbClr val="E2E8F0"/>
                </a:solidFill>
                <a:latin typeface="Consolas"/>
              </a:rPr>
              <a:t>from langgraph.checkpoint.memory import MemorySaver
memory = MemorySaver()
graph = builder.compile(checkpointer=memory)
config = {
  "configurable": {
    "thread_id": "support_session_1"
  }
}
graph.invoke({"messages": [...]}, config=config)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874519"/>
            <a:ext cx="4892040" cy="34290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9672" y="1984248"/>
            <a:ext cx="4562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What carries over from Lesson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423160"/>
            <a:ext cx="438912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- Same thread_id -&gt; same conversation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- Different thread_id -&gt; isolated users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- MemorySaver stores state in RAM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- SQLite/Postgres savers persist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8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"/>
              </a:rPr>
              <a:t>Debugging: Diagrams +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77A"/>
                </a:solidFill>
                <a:latin typeface="Aptos"/>
              </a:rPr>
              <a:t>Explicit graphs are easier to teach and troubleshoot.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66360" cy="315468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rtlCol="0" anchor="ctr">
            <a:normAutofit/>
          </a:bodyPr>
          <a:lstStyle/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print(graph.get_graph().draw_mermaid())
for event in graph.stream(
    {"messages": [("user", question)]},
    config=config,
):
    print(event)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4800600" cy="315468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65392" y="1938528"/>
            <a:ext cx="4471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Participants should notice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25196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- Each stream event is a node update</a:t>
            </a:r>
          </a:p>
          <a:p>
            <a:pPr>
              <a:spcAft>
                <a:spcPts val="8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- State changes are inspectable</a:t>
            </a:r>
          </a:p>
          <a:p>
            <a:pPr>
              <a:spcAft>
                <a:spcPts val="8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- The workflow can be drawn before it runs</a:t>
            </a:r>
          </a:p>
          <a:p>
            <a:pPr>
              <a:spcAft>
                <a:spcPts val="800"/>
              </a:spcAft>
              <a:defRPr sz="1650">
                <a:solidFill>
                  <a:srgbClr val="1E293B"/>
                </a:solidFill>
                <a:latin typeface="Aptos"/>
              </a:defRPr>
            </a:pPr>
            <a:r>
              <a:t>- This makes production traces less mysterious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2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"/>
              </a:rPr>
              <a:t>Bridge to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77A"/>
                </a:solidFill>
                <a:latin typeface="Aptos"/>
              </a:rPr>
              <a:t>MCP changes where tools come from, not the core graph idea.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942185" cy="566928"/>
          </a:xfrm>
          <a:prstGeom prst="roundRect">
            <a:avLst/>
          </a:prstGeom>
          <a:solidFill>
            <a:srgbClr val="32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3433" y="22585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66313" y="2148840"/>
            <a:ext cx="1942185" cy="566928"/>
          </a:xfrm>
          <a:prstGeom prst="roundRect">
            <a:avLst/>
          </a:prstGeom>
          <a:solidFill>
            <a:srgbClr val="EE7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Adapter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6787" y="22585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9667" y="2148840"/>
            <a:ext cx="1942185" cy="566928"/>
          </a:xfrm>
          <a:prstGeom prst="roundRect">
            <a:avLst/>
          </a:prstGeom>
          <a:solidFill>
            <a:srgbClr val="68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LangChain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0140" y="22585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3020" y="2148840"/>
            <a:ext cx="1942185" cy="56692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ToolNode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3494" y="2258568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96374" y="2148840"/>
            <a:ext cx="1942185" cy="566928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37560"/>
            <a:ext cx="4983480" cy="16002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3447288"/>
            <a:ext cx="4654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94760"/>
            <a:ext cx="443484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- Local Python tools: get_weather, get_stock_price</a:t>
            </a:r>
          </a:p>
          <a:p>
            <a:pPr>
              <a:spcAft>
                <a:spcPts val="8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- Tools are passed directly into ToolNode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337560"/>
            <a:ext cx="4983480" cy="16002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3447288"/>
            <a:ext cx="4654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94760"/>
            <a:ext cx="443484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- MCP tools come from external servers</a:t>
            </a:r>
          </a:p>
          <a:p>
            <a:pPr>
              <a:spcAft>
                <a:spcPts val="8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- LangGraph still routes to ToolNode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5623560"/>
            <a:ext cx="9326880" cy="457200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Foundation first: once the graph loop is clear, MCP becomes a tool-source upgrade.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"/>
              </a:rPr>
              <a:t>Hands-On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77A"/>
                </a:solidFill>
                <a:latin typeface="Aptos"/>
              </a:rPr>
              <a:t>Run the notebook in this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83280" cy="361188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892807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1.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83464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Define AgentState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Create assistant node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Compile START -&gt; assistant -&gt;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383280" cy="361188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892807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2.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83464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Bind tools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Add ToolNode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Add conditional edge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Inspect Mermaid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783080"/>
            <a:ext cx="3383280" cy="361188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5592" y="1892807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2640"/>
                </a:solidFill>
                <a:latin typeface="Aptos"/>
              </a:rPr>
              <a:t>3. 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31720"/>
            <a:ext cx="283464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Compile with MemorySaver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Pass thread_id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Stream node updates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- Connect to MCP 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742432"/>
            <a:ext cx="10104120" cy="475488"/>
          </a:xfrm>
          <a:prstGeom prst="roundRect">
            <a:avLst/>
          </a:prstGeom>
          <a:solidFill>
            <a:srgbClr val="008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Takeaway: LangGraph makes the agent workflow visible, testable, and extensible.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5B677A"/>
                </a:solidFill>
                <a:latin typeface="Aptos"/>
              </a:rPr>
              <a:t>Lesson C: LangGraph Fundamentals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977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Sharad Rajore</cp:lastModifiedBy>
  <cp:revision>2</cp:revision>
  <dcterms:created xsi:type="dcterms:W3CDTF">2013-01-27T09:14:16Z</dcterms:created>
  <dcterms:modified xsi:type="dcterms:W3CDTF">2026-07-07T08:43:53Z</dcterms:modified>
  <cp:category/>
</cp:coreProperties>
</file>